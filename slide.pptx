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390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390" y="0"/>
            <a:ext cx="609539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89320" y="2011680"/>
            <a:ext cx="182880" cy="3200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53035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35"/>
                </a:solidFill>
              </a:defRPr>
            </a:pPr>
            <a:r>
              <a:t>BÁO CÁO MÔN HỌC</a:t>
            </a:r>
            <a:br/>
            <a:r>
              <a:t>KHOA HỌC DỮ LIỆU</a:t>
            </a:r>
          </a:p>
          <a:p>
            <a:pPr>
              <a:spcBef>
                <a:spcPts val="1400"/>
              </a:spcBef>
              <a:defRPr sz="4400" b="1">
                <a:solidFill>
                  <a:srgbClr val="FFFFFF"/>
                </a:solidFill>
              </a:defRPr>
            </a:pPr>
            <a:r>
              <a:t>PHÂN TÍCH VÀ DỰ ĐOÁN THỜI TIẾT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286000"/>
            <a:ext cx="5029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Sinh viên thực hiện: Lê Tuấn Anh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Mã sinh viên: K225480106001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Lớp: K58KTP.01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Giáo viên hướng dẫn: TS. Nguyễn Văn Huy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Nội dung báo cáo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9997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 b="1">
                <a:solidFill>
                  <a:srgbClr val="282828"/>
                </a:solidFill>
              </a:defRPr>
            </a:pPr>
            <a:r>
              <a:t>■  Chương 1: Giới thiệu đề tài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Chương 2: Cơ sở lý thuyết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Chương 3: Thu thập và tiền xử lý dữ liệu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Chương 4: Phân tích dữ liệu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Chương 5: Xây dựng mô hình dự đoán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Chương 6: Kết luận và hướng phát triển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812779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1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1. Đặt vấn đề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9997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 b="1">
                <a:solidFill>
                  <a:srgbClr val="282828"/>
                </a:solidFill>
              </a:defRPr>
            </a:pPr>
            <a:r>
              <a:t>■  Biến đổi khí hậu ngày càng phức tạp, ảnh hưởng lớn đến đời sống.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Cần thiết theo dõi, phân tích và dự báo thời tiết tự động.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Ứng dụng Khoa học dữ liệu và Machine Learning giải quyết bài toán.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Đề tài tập trung khai thác dữ liệu thực tế tại Thái Nguyên.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625559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2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2. Mục tiêu nghiên cứu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9997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 b="1">
                <a:solidFill>
                  <a:srgbClr val="282828"/>
                </a:solidFill>
              </a:defRPr>
            </a:pPr>
            <a:r>
              <a:t>■  Thu thập dữ liệu thời tiết Thái Nguyên từ Open-Meteo.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Tiền xử lý, làm sạch và trực quan hóa dữ liệu.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Xây dựng mô hình dự đoán nhiệt độ (Linear Regression).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Dự đoán khả năng xảy ra mưa (Random Forest).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Phát triển website dự báo trực quan bằng Flask Framework.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2438339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3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3. Phạm vi nghiên cứu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9997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 b="1">
                <a:solidFill>
                  <a:srgbClr val="282828"/>
                </a:solidFill>
              </a:defRPr>
            </a:pPr>
            <a:r>
              <a:t>■  Không gian: Thành phố Thái Nguyên.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Nguồn dữ liệu: Open-Meteo Historical Weather API.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Thuộc tính: Nhiệt độ trung bình, cao nhất, thấp nhất, lượng mưa.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Công cụ: Python, Pandas, Matplotlib, Scikit-learn, Flask.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3251118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4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4. Cơ sở lý thuyết - Học máy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9997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 b="1">
                <a:solidFill>
                  <a:srgbClr val="282828"/>
                </a:solidFill>
              </a:defRPr>
            </a:pPr>
            <a:r>
              <a:t>■  Học có giám sát (Supervised Learning): Dùng cho dự báo thời tiết.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Phân loại thành 2 nhóm:</a:t>
            </a:r>
          </a:p>
          <a:p>
            <a:pPr>
              <a:spcAft>
                <a:spcPts val="1800"/>
              </a:spcAft>
              <a:defRPr sz="2000">
                <a:solidFill>
                  <a:srgbClr val="505050"/>
                </a:solidFill>
              </a:defRPr>
            </a:pPr>
            <a:r>
              <a:t>   ✦  Hồi quy (Regression): Dự đoán số liên tục (VD: Nhiệt độ).</a:t>
            </a:r>
          </a:p>
          <a:p>
            <a:pPr>
              <a:spcAft>
                <a:spcPts val="1800"/>
              </a:spcAft>
              <a:defRPr sz="2000">
                <a:solidFill>
                  <a:srgbClr val="505050"/>
                </a:solidFill>
              </a:defRPr>
            </a:pPr>
            <a:r>
              <a:t>   ✦  Phân loại (Classification): Xác định nhãn (VD: Có mưa/Không mưa).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4063898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5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5. Mô hình Linear Regression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9997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 b="1">
                <a:solidFill>
                  <a:srgbClr val="282828"/>
                </a:solidFill>
              </a:defRPr>
            </a:pPr>
            <a:r>
              <a:t>■  Thuật toán Hồi quy tuyến tính.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Mục đích: Dự đoán nhiệt độ trung bình ngày tiếp theo.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Nguyên lý: Tìm đường thẳng tối ưu mô tả mối quan hệ dữ liệu.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Ưu điểm: Tốc độ huấn luyện nhanh, dễ triển khai, dễ giải thích.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4876678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6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6. Mô hình Random Forest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9997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 b="1">
                <a:solidFill>
                  <a:srgbClr val="282828"/>
                </a:solidFill>
              </a:defRPr>
            </a:pPr>
            <a:r>
              <a:t>■  Thuật toán Phân loại đa cây quyết định (Decision Trees).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Mục đích: Dự đoán khả năng mưa (Có mưa / Không mưa).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Nguyên lý: Biểu quyết đa số từ nhiều cây quyết định.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Ưu điểm: Độ chính xác cao, ổn định, tránh Overfitting.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5689457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7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7. Thu thập và Tiền xử lý dữ liệu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9997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 b="1">
                <a:solidFill>
                  <a:srgbClr val="282828"/>
                </a:solidFill>
              </a:defRPr>
            </a:pPr>
            <a:r>
              <a:t>■  Nguồn &amp; Định dạng: Open-Meteo API, định dạng file CSV.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Làm sạch dữ liệu: Xử lý giá trị rỗng và kiểm tra kiểu dữ liệu.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Tạo thuộc tính mới:</a:t>
            </a:r>
          </a:p>
          <a:p>
            <a:pPr>
              <a:spcAft>
                <a:spcPts val="1800"/>
              </a:spcAft>
              <a:defRPr sz="2000">
                <a:solidFill>
                  <a:srgbClr val="505050"/>
                </a:solidFill>
              </a:defRPr>
            </a:pPr>
            <a:r>
              <a:t>   ✦  Biến 'Ngay' (Số thứ tự ngày) - Dành cho Linear Regression.</a:t>
            </a:r>
          </a:p>
          <a:p>
            <a:pPr>
              <a:spcAft>
                <a:spcPts val="1800"/>
              </a:spcAft>
              <a:defRPr sz="2000">
                <a:solidFill>
                  <a:srgbClr val="505050"/>
                </a:solidFill>
              </a:defRPr>
            </a:pPr>
            <a:r>
              <a:t>   ✦  Biến 'CoMua' (Có mưa=1, Không mưa=0) - Dành cho Random Forest.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6502237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8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8. Phân tích dữ liệu: Nhiệt độ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9997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 b="1">
                <a:solidFill>
                  <a:srgbClr val="282828"/>
                </a:solidFill>
              </a:defRPr>
            </a:pPr>
            <a:r>
              <a:t>■  Nhiệt độ thay đổi theo quy luật mùa rõ rệt.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Mùa hè ghi nhận nền nhiệt độ trung bình cao nhất.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Tháng nóng nhất tập trung vào mùa hè, biến động nhẹ theo năm.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Các tháng lạnh nhất xuất hiện vào mùa đông.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7315017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9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9. Phân tích dữ liệu: Lượng mưa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9997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 b="1">
                <a:solidFill>
                  <a:srgbClr val="282828"/>
                </a:solidFill>
              </a:defRPr>
            </a:pPr>
            <a:r>
              <a:t>■  Lượng mưa cao nhất tập trung vào mùa mưa.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Ảnh hưởng bởi các đợt gió mùa và áp thấp nhiệt đới.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Các tháng ít mưa chủ yếu xuất hiện vào mùa khô.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Dữ liệu thể hiện tính chu kỳ rõ rệt của thời tiết Thái Nguyên.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8127796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10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10. Dự đoán nhiệt độ (Kết quả)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9997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 b="1">
                <a:solidFill>
                  <a:srgbClr val="282828"/>
                </a:solidFill>
              </a:defRPr>
            </a:pPr>
            <a:r>
              <a:t>■  Sử dụng Linear Regression.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Đầu vào: Biến thời gian (Ngay). Đầu ra: Nhiệt độ (TempMean).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Kết quả: Dự báo tốt xu hướng nhiệt độ ngày kế tiếp.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Hiệu năng: Tính toán nhanh chóng, hiển thị tốt trên nền tảng Web.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8940576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11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11. Dự đoán khả năng mưa (Kết quả)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9997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 b="1">
                <a:solidFill>
                  <a:srgbClr val="282828"/>
                </a:solidFill>
              </a:defRPr>
            </a:pPr>
            <a:r>
              <a:t>■  Sử dụng Random Forest.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Đầu vào: Nhiệt độ (Mean, Max, Min). Đầu ra: Mưa (Có/Không).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Kết quả: Phân loại xuất sắc khả năng mưa dựa trên biểu đồ nhiệt.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Khắc phục được nhược điểm của mô hình cây quyết định đơn lẻ.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9753356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12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12. Xây dựng Website dự báo (Flask)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9997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 b="1">
                <a:solidFill>
                  <a:srgbClr val="282828"/>
                </a:solidFill>
              </a:defRPr>
            </a:pPr>
            <a:r>
              <a:t>■  Kiến trúc Client-Server với Python Flask.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Tính năng hệ thống:</a:t>
            </a:r>
          </a:p>
          <a:p>
            <a:pPr>
              <a:spcAft>
                <a:spcPts val="1800"/>
              </a:spcAft>
              <a:defRPr sz="2000">
                <a:solidFill>
                  <a:srgbClr val="505050"/>
                </a:solidFill>
              </a:defRPr>
            </a:pPr>
            <a:r>
              <a:t>   ✦  Xem biểu đồ thống kê trực quan.</a:t>
            </a:r>
          </a:p>
          <a:p>
            <a:pPr>
              <a:spcAft>
                <a:spcPts val="1800"/>
              </a:spcAft>
              <a:defRPr sz="2000">
                <a:solidFill>
                  <a:srgbClr val="505050"/>
                </a:solidFill>
              </a:defRPr>
            </a:pPr>
            <a:r>
              <a:t>   ✦  Dự báo nhiệt độ, khả năng mưa cho ngày kế tiếp.</a:t>
            </a:r>
          </a:p>
          <a:p>
            <a:pPr>
              <a:spcAft>
                <a:spcPts val="1800"/>
              </a:spcAft>
              <a:defRPr sz="2000">
                <a:solidFill>
                  <a:srgbClr val="505050"/>
                </a:solidFill>
              </a:defRPr>
            </a:pPr>
            <a:r>
              <a:t>   ✦  Giao diện động thay đổi theo kết quả (Trời mưa / Trời nắng).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0566135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13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13. Kết quả đạt được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9997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 b="1">
                <a:solidFill>
                  <a:srgbClr val="282828"/>
                </a:solidFill>
              </a:defRPr>
            </a:pPr>
            <a:r>
              <a:t>■  Hoàn thiện luồng xử lý Data Science thực tế.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Khai thác thành công dữ liệu Open-Meteo.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Xây dựng hiệu quả các mô hình Machine Learning.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Đưa mô hình vào ứng dụng Web hoạt động trực tiếp.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1378915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14 /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14. Hạn chế &amp; Hướng phát triển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9997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 b="1">
                <a:solidFill>
                  <a:srgbClr val="282828"/>
                </a:solidFill>
              </a:defRPr>
            </a:pPr>
            <a:r>
              <a:t>■  Hạn chế: Linear Regression khó dự báo dữ liệu phi tuyến mạnh.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Hạn chế: Chưa dùng các biến độ ẩm, áp suất, sức gió.</a:t>
            </a:r>
          </a:p>
          <a:p>
            <a:pPr>
              <a:spcAft>
                <a:spcPts val="1800"/>
              </a:spcAft>
              <a:defRPr sz="2400" b="0">
                <a:solidFill>
                  <a:srgbClr val="282828"/>
                </a:solidFill>
              </a:defRPr>
            </a:pPr>
            <a:r>
              <a:t>■  Hướng phát triển:</a:t>
            </a:r>
          </a:p>
          <a:p>
            <a:pPr>
              <a:spcAft>
                <a:spcPts val="1800"/>
              </a:spcAft>
              <a:defRPr sz="2000">
                <a:solidFill>
                  <a:srgbClr val="505050"/>
                </a:solidFill>
              </a:defRPr>
            </a:pPr>
            <a:r>
              <a:t>   ✦  Nâng cấp lên mô hình Deep Learning (LSTM, Transformer).</a:t>
            </a:r>
          </a:p>
          <a:p>
            <a:pPr>
              <a:spcAft>
                <a:spcPts val="1800"/>
              </a:spcAft>
              <a:defRPr sz="2000">
                <a:solidFill>
                  <a:srgbClr val="505050"/>
                </a:solidFill>
              </a:defRPr>
            </a:pPr>
            <a:r>
              <a:t>   ✦  Tích hợp API thời gian thực để cập nhật dữ liệu tự động.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969696"/>
                </a:solidFill>
              </a:defRPr>
            </a:pPr>
            <a:r>
              <a:t>15 /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5340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XIN CHÂN THÀNH CẢM ƠN!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